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66fe398dc6483c" /><Relationship Type="http://schemas.openxmlformats.org/officeDocument/2006/relationships/extended-properties" Target="/docProps/app.xml" Id="R8165e86b5ca94556" /><Relationship Type="http://schemas.openxmlformats.org/officeDocument/2006/relationships/officeDocument" Target="/ppt/presentation.xml" Id="Rf8701e5edc004d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7b878fe45f45e0"/>
  </p:sldMasterIdLst>
  <p:notesMasterIdLst>
    <p:notesMasterId xmlns:r="http://schemas.openxmlformats.org/officeDocument/2006/relationships" r:id="R4a6135c785d74843"/>
  </p:notesMasterIdLst>
  <p:sldIdLst>
    <p:sldId xmlns:r="http://schemas.openxmlformats.org/officeDocument/2006/relationships" id="256" r:id="R6195c81e79ed47fa"/>
    <p:sldId xmlns:r="http://schemas.openxmlformats.org/officeDocument/2006/relationships" id="257" r:id="Raca6683034c34828"/>
    <p:sldId xmlns:r="http://schemas.openxmlformats.org/officeDocument/2006/relationships" id="258" r:id="R0928011782ae4f16"/>
    <p:sldId xmlns:r="http://schemas.openxmlformats.org/officeDocument/2006/relationships" id="259" r:id="R152e3d3209674a62"/>
    <p:sldId xmlns:r="http://schemas.openxmlformats.org/officeDocument/2006/relationships" id="260" r:id="R63031074d77b46e8"/>
    <p:sldId xmlns:r="http://schemas.openxmlformats.org/officeDocument/2006/relationships" id="261" r:id="Rc76ca46309664f82"/>
    <p:sldId xmlns:r="http://schemas.openxmlformats.org/officeDocument/2006/relationships" id="262" r:id="R52c53829091c4e8b"/>
    <p:sldId xmlns:r="http://schemas.openxmlformats.org/officeDocument/2006/relationships" id="263" r:id="R914c1bae03c645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2f0f5eea0e4088" /><Relationship Type="http://schemas.openxmlformats.org/officeDocument/2006/relationships/slideMaster" Target="/ppt/slideMasters/slideMaster1.xml" Id="Rcb7b878fe45f45e0" /><Relationship Type="http://schemas.openxmlformats.org/officeDocument/2006/relationships/notesMaster" Target="/ppt/notesMasters/notesMaster1.xml" Id="R4a6135c785d74843" /><Relationship Type="http://schemas.openxmlformats.org/officeDocument/2006/relationships/presProps" Target="/ppt/presProps.xml" Id="Reb27501e63cb42e5" /><Relationship Type="http://schemas.openxmlformats.org/officeDocument/2006/relationships/tableStyles" Target="/ppt/tableStyles.xml" Id="Rb688f86ec6ef4131" /><Relationship Type="http://schemas.openxmlformats.org/officeDocument/2006/relationships/slide" Target="/ppt/slides/slide1.xml" Id="R6195c81e79ed47fa" /><Relationship Type="http://schemas.openxmlformats.org/officeDocument/2006/relationships/slide" Target="/ppt/slides/slide2.xml" Id="Raca6683034c34828" /><Relationship Type="http://schemas.openxmlformats.org/officeDocument/2006/relationships/slide" Target="/ppt/slides/slide3.xml" Id="R0928011782ae4f16" /><Relationship Type="http://schemas.openxmlformats.org/officeDocument/2006/relationships/slide" Target="/ppt/slides/slide4.xml" Id="R152e3d3209674a62" /><Relationship Type="http://schemas.openxmlformats.org/officeDocument/2006/relationships/slide" Target="/ppt/slides/slide5.xml" Id="R63031074d77b46e8" /><Relationship Type="http://schemas.openxmlformats.org/officeDocument/2006/relationships/slide" Target="/ppt/slides/slide6.xml" Id="Rc76ca46309664f82" /><Relationship Type="http://schemas.openxmlformats.org/officeDocument/2006/relationships/slide" Target="/ppt/slides/slide7.xml" Id="R52c53829091c4e8b" /><Relationship Type="http://schemas.openxmlformats.org/officeDocument/2006/relationships/slide" Target="/ppt/slides/slide8.xml" Id="R914c1bae03c645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38905c0f314a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1c318dbff74e05" /><Relationship Type="http://schemas.openxmlformats.org/officeDocument/2006/relationships/notesMaster" Target="/ppt/notesMasters/notesMaster1.xml" Id="Rd907e85628f048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cec978d7d14e5f" /><Relationship Type="http://schemas.openxmlformats.org/officeDocument/2006/relationships/notesMaster" Target="/ppt/notesMasters/notesMaster1.xml" Id="R2a12ced8c5e445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caaf72538141f5" /><Relationship Type="http://schemas.openxmlformats.org/officeDocument/2006/relationships/notesMaster" Target="/ppt/notesMasters/notesMaster1.xml" Id="R1fdbdb037c63409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1fbea1efd3476f" /><Relationship Type="http://schemas.openxmlformats.org/officeDocument/2006/relationships/notesMaster" Target="/ppt/notesMasters/notesMaster1.xml" Id="R6b9f7dc05da04b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754b658cba4682" /><Relationship Type="http://schemas.openxmlformats.org/officeDocument/2006/relationships/notesMaster" Target="/ppt/notesMasters/notesMaster1.xml" Id="R3e0b9ecd4cc445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d366047ce8438b" /><Relationship Type="http://schemas.openxmlformats.org/officeDocument/2006/relationships/notesMaster" Target="/ppt/notesMasters/notesMaster1.xml" Id="Ra5e6a1eb8be746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e7f28f62ff4762" /><Relationship Type="http://schemas.openxmlformats.org/officeDocument/2006/relationships/notesMaster" Target="/ppt/notesMasters/notesMaster1.xml" Id="Rd831b5f9d85142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952b13fe8946d7" /><Relationship Type="http://schemas.openxmlformats.org/officeDocument/2006/relationships/notesMaster" Target="/ppt/notesMasters/notesMaster1.xml" Id="Ra34ec4d898fd452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/Users/omaralvarez_19/proyectos-vibe-coding/landing-omar/wiki/sintesis/framework-4c-empresas-servicios.md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/Users/omaralvarez_19/proyectos-vibe-coding/second-brain/projects/cotizador-enzo/README.md</a:t>
            </a:r>
          </a:p>
          <a:p xmlns:a="http://schemas.openxmlformats.org/drawingml/2006/main">
            <a:r>
              <a:t>- /Users/omaralvarez_19/proyectos-vibe-coding/grupo-enzo/arkhe/CLAUDE.md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/Users/omaralvarez_19/proyectos-vibe-coding/landing-omar/wiki/sintesis/posicionamiento-consultoria-dos-horas.md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/Users/omaralvarez_19/proyectos-vibe-coding/landing-omar/wiki/sintesis/framework-4c-empresas-servicios.md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/Users/omaralvarez_19/proyectos-vibe-coding/second-brain/projects/cotizador-enzo/README.md</a:t>
            </a:r>
          </a:p>
          <a:p xmlns:a="http://schemas.openxmlformats.org/drawingml/2006/main">
            <a:r>
              <a:t>- /Users/omaralvarez_19/proyectos-vibe-coding/grupo-enzo/arkhe/CLAUDE.md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/Users/omaralvarez_19/proyectos-vibe-coding/second-brain/projects/cotizador-enzo/README.md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/Users/omaralvarez_19/proyectos-vibe-coding/CLAUDE.md</a:t>
            </a:r>
          </a:p>
          <a:p xmlns:a="http://schemas.openxmlformats.org/drawingml/2006/main">
            <a:r>
              <a:t>- /Users/omaralvarez_19/proyectos-vibe-coding/adjudika/CLAUDE.md</a:t>
            </a:r>
          </a:p>
          <a:p xmlns:a="http://schemas.openxmlformats.org/drawingml/2006/main">
            <a:r>
              <a:t>- /Users/omaralvarez_19/proyectos-vibe-coding/grupo-enzo/arkhe/CLAUDE.md</a:t>
            </a:r>
          </a:p>
          <a:p xmlns:a="http://schemas.openxmlformats.org/drawingml/2006/main">
            <a:r>
              <a:t>- /Users/omaralvarez_19/proyectos-vibe-coding/second-brain/projects/cotizador-enzo/README.md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/Users/omaralvarez_19/proyectos-vibe-coding/landing-omar/wiki/sintesis/framework-4c-empresas-servicios.md</a:t>
            </a:r>
          </a:p>
          <a:p xmlns:a="http://schemas.openxmlformats.org/drawingml/2006/main">
            <a:r>
              <a:t>- https://www.superfinanciera.gov.co/publicaciones/60819/</a:t>
            </a:r>
          </a:p>
          <a:p xmlns:a="http://schemas.openxmlformats.org/drawingml/2006/main">
            <a:r>
              <a:t>- https://www.datos.gov.co/resource/32sa-8pi3.json</a:t>
            </a:r>
          </a:p>
          <a:p xmlns:a="http://schemas.openxmlformats.org/drawingml/2006/main">
            <a:r>
              <a:t>- https://wompi.com/es/co/planes-tarifas/</a:t>
            </a:r>
          </a:p>
          <a:p xmlns:a="http://schemas.openxmlformats.org/drawingml/2006/main">
            <a:r>
              <a:t>- https://docs.wompi.co/docs/colombia/widget-checkout-web/</a:t>
            </a:r>
          </a:p>
          <a:p xmlns:a="http://schemas.openxmlformats.org/drawingml/2006/main">
            <a:r>
              <a:t>- https://stripe.com/pricing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027af61af4c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d2e2354e34469b" /><Relationship Type="http://schemas.openxmlformats.org/officeDocument/2006/relationships/slideLayout" Target="/ppt/slideLayouts/slideLayout1.xml" Id="R838a0143cce846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8a0143cce846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64c893f914c83" /><Relationship Type="http://schemas.openxmlformats.org/officeDocument/2006/relationships/notesSlide" Target="/ppt/notesSlides/notesSlide1.xml" Id="Rdab2d3f533144a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ebd6f3bc248bd" /><Relationship Type="http://schemas.openxmlformats.org/officeDocument/2006/relationships/notesSlide" Target="/ppt/notesSlides/notesSlide2.xml" Id="Rebeac9de4dc34f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749be68461491a" /><Relationship Type="http://schemas.openxmlformats.org/officeDocument/2006/relationships/notesSlide" Target="/ppt/notesSlides/notesSlide3.xml" Id="Ra756be0d76ef46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b1eb8626e4570" /><Relationship Type="http://schemas.openxmlformats.org/officeDocument/2006/relationships/notesSlide" Target="/ppt/notesSlides/notesSlide4.xml" Id="R9178f3af3a0d4f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5e5539ec84597" /><Relationship Type="http://schemas.openxmlformats.org/officeDocument/2006/relationships/notesSlide" Target="/ppt/notesSlides/notesSlide5.xml" Id="R96db5a7047d846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ee4462ebc4ba8" /><Relationship Type="http://schemas.openxmlformats.org/officeDocument/2006/relationships/notesSlide" Target="/ppt/notesSlides/notesSlide6.xml" Id="R263b220b6d8b4f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a8f2a9a654b1d" /><Relationship Type="http://schemas.openxmlformats.org/officeDocument/2006/relationships/notesSlide" Target="/ppt/notesSlides/notesSlide7.xml" Id="R163fb6e101e940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67338fb604f0d" /><Relationship Type="http://schemas.openxmlformats.org/officeDocument/2006/relationships/notesSlide" Target="/ppt/notesSlides/notesSlide8.xml" Id="R7283f4860ad64f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2308A-BA32-46A6-8928-B9C95BB0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MARCO PROPIO / OA—4C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D9D65-F68A-4808-AB32-320E9797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EMPRESAS DE SERVICIOS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428CAB-D29C-4307-B922-7C6B18F4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5D77E2-6C2F-4A56-8EAD-665DF610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905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40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540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Marco 4C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5D3EEE-B025-47A1-8CBE-1066291E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8191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0" i="0">
                <a:solidFill>
                  <a:srgbClr val="60666B"/>
                </a:solidFill>
                <a:latin typeface="Aptos"/>
                <a:ea typeface="Aptos"/>
                <a:cs typeface="Aptos"/>
              </a:defRPr>
            </a:pPr>
            <a:r>
              <a:rPr sz="2400" b="0" i="0">
                <a:solidFill>
                  <a:srgbClr val="60666B"/>
                </a:solidFill>
                <a:latin typeface="Aptos"/>
                <a:ea typeface="Aptos"/>
                <a:cs typeface="Aptos"/>
              </a:rPr>
              <a:t>Sistemas e inteligencia artificial para que una empresa de servicios capte, convierta, cumpla y continúe.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084DB-9392-4FD7-90E0-EE649AEE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000500"/>
            <a:ext cx="3733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 i="1">
                <a:solidFill>
                  <a:srgbClr val="1E5FA8"/>
                </a:solidFill>
                <a:latin typeface="Georgia"/>
                <a:ea typeface="Georgia"/>
                <a:cs typeface="Georgia"/>
              </a:defRPr>
            </a:pPr>
            <a:r>
              <a:rPr sz="1500" b="0" i="1">
                <a:solidFill>
                  <a:srgbClr val="1E5FA8"/>
                </a:solidFill>
                <a:latin typeface="Georgia"/>
                <a:ea typeface="Georgia"/>
                <a:cs typeface="Georgia"/>
              </a:rPr>
              <a:t>No empezamos por una herramienta. Empezamos por la decisión que el negocio necesita mejorar.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ABC2D-4097-4342-8917-F7B41139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8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037A25-9AA3-46B8-A4FA-018513D9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C1  CAPTAR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13FF3-DD75-41F8-8B69-93C2CC2D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657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111820"/>
                </a:solidFill>
                <a:latin typeface="Courier New"/>
                <a:ea typeface="Courier New"/>
                <a:cs typeface="Courier New"/>
              </a:rPr>
              <a:t>C2  CONVERTIR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7F7AA9-F5CF-4C12-8C85-90F919C0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57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111820"/>
                </a:solidFill>
                <a:latin typeface="Courier New"/>
                <a:ea typeface="Courier New"/>
                <a:cs typeface="Courier New"/>
              </a:rPr>
              <a:t>C3  CUMPLIR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72968-2D4F-4DE6-A3BE-72881DD9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657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1820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111820"/>
                </a:solidFill>
                <a:latin typeface="Courier New"/>
                <a:ea typeface="Courier New"/>
                <a:cs typeface="Courier New"/>
              </a:rPr>
              <a:t>C4  CONTINUAR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48102F-08AC-4286-9279-2FE22BC19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900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Omar Álvarez  ·  Cúcuta / remoto</a:t>
            </a:r>
          </a:p>
        </p:txBody>
      </p:sp>
    </p:spTree>
    <p:extLst>
      <p:ext uri="{BB962C8B-B14F-4D97-AF65-F5344CB8AC3E}">
        <p14:creationId xmlns:p14="http://schemas.microsoft.com/office/powerpoint/2010/main" val="1390767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CEFA6F-887F-4859-939E-08D81E0C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02 / LA TENSIÓN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9E4DCA-8CE4-477F-AF4B-CCEB368F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rPr>
              <a:t>omar.alvarez  ·  MARCO 4C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3BC4E-D639-4D9C-83C0-CAAF89E2B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07AE6-35E3-4E05-B7E5-1E7E78E5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BC5273-2087-480B-95A0-50267A61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90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La IA no corrige un ciclo roto.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D0CC1-84EB-444A-BA9E-65B38557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8953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0" i="0">
                <a:solidFill>
                  <a:srgbClr val="AEB7C0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AEB7C0"/>
                </a:solidFill>
                <a:latin typeface="Georgia"/>
                <a:ea typeface="Georgia"/>
                <a:cs typeface="Georgia"/>
              </a:rPr>
              <a:t>Si la oportunidad no entra, nadie la sigue. Si se vende, la entrega depende del dueño. Y cuando termina, la relación se enfría.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82F40-CB77-421C-A002-43DCCDB0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9B52E3-1E18-41BC-AC56-8D58B0C8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08CF8-0A40-46D8-B4D6-ACE5B490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2902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Leads en chats distintos y sin una fuente única.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749F3-6D8D-4681-BC5F-06543B2A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6E28C-E551-46CA-8525-CF53EDB5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40C76-C9FF-4C67-9C74-52A245CB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00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Seguimientos que existen solo mientras alguien los recuerda.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2E9E1C-AF9B-4B15-B482-9F420EFA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608434-21BB-43CA-832F-846CA819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0E836-C660-49A3-9C1E-0303D276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91075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La operación pregunta al dueño antes de cada excepción.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3A3071-4710-42E7-910A-1443FFE5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48087-F0D7-45D8-B27E-44540AB13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2C5945-B13B-4FC7-8A75-D0B851FD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3721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La postventa empieza cuando el cliente vuelve a escribir.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18DB8-8392-4F76-8443-65AE8DFE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066800"/>
            <a:ext cx="800100" cy="491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BB5D3-220F-481A-A2BB-44CE4005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648200"/>
            <a:ext cx="57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427"/>
          </a:bodyPr>
          <a:lstStyle xmlns:a="http://schemas.openxmlformats.org/drawingml/2006/main"/>
          <a:p xmlns:a="http://schemas.openxmlformats.org/drawingml/2006/main">
            <a:pPr algn="ctr">
              <a:defRPr sz="375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4C</a:t>
            </a:r>
          </a:p>
        </p:txBody>
      </p:sp>
    </p:spTree>
    <p:extLst>
      <p:ext uri="{BB962C8B-B14F-4D97-AF65-F5344CB8AC3E}">
        <p14:creationId xmlns:p14="http://schemas.microsoft.com/office/powerpoint/2010/main" val="1739675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8B54D4-863D-4C8B-8E16-7A308C01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03 / QUIÉN DECIDE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F64B9-7EFB-4DF4-9F78-78D9D24B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omar.alvarez  ·  MARCO 4C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51272-A8DC-4179-BADF-7F591BFB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09858-E5F7-4145-9BFA-6AED3275F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12A39-8ED6-426D-B575-5859DB22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37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El marco empieza por quien puede decidir.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F3F07-EB87-4EFE-8FBB-246813BF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112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DUEÑO O SOCIO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32B8A0-9F98-470D-836C-8F7A8437B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38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45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70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Una persona que conoce la operación, siente el costo del problema y puede cambiar el proceso.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672A8E-73F0-41D1-B7ED-AF85B58A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076450"/>
            <a:ext cx="9525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93123-73CD-41D3-9BEC-4C6BDEBB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76450"/>
            <a:ext cx="5638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01AD6-E0F8-4FEC-9CF3-494235DA8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3050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2F79F-8E20-4187-AB73-DB95BDA76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479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La empresa ya vende un servicio y atiende clientes reales.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FC4E91-1A13-49CB-9913-AEA3EA83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57550"/>
            <a:ext cx="5638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DC7D8-0E61-4BB5-A046-3AE1A925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4861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39E2AE-B5C5-4C9D-932C-4E396E5FF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Existe un cuello que cuesta tiempo, dinero, control o continuidad.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DC036-0319-4FC2-8D1A-8BB440F7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438650"/>
            <a:ext cx="5638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043C5-FBC0-412A-9A65-E658438E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672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25B04-9A16-429B-8E4B-9220242A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1010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725" b="0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Hay contexto suficiente para tomar una decisión durante la sesión.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38125E-F51D-44D5-89F6-22EB9B9F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9050A-8BFE-4D76-9D77-CD9B3C43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No es para buscar prompts. Es para cambiar un sistema que ya está en uso.</a:t>
            </a:r>
          </a:p>
        </p:txBody>
      </p:sp>
    </p:spTree>
    <p:extLst>
      <p:ext uri="{BB962C8B-B14F-4D97-AF65-F5344CB8AC3E}">
        <p14:creationId xmlns:p14="http://schemas.microsoft.com/office/powerpoint/2010/main" val="7399808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8E3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2A0A1D-A61C-4AB3-89BB-A8734D49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04 / EL CICLO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9A2FF-766E-4524-9728-5DB69D7D8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omar.alvarez  ·  MARCO 4C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D6A47-494F-4EE0-8374-0C75F042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E7EAD-7CC5-401B-8862-4E7ADFFE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F5315-4D8A-4951-AD8A-6D2D339B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Cuatro momentos. Una sola relación con el cliente.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01C73-5537-4745-8A91-E175D94B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E5F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F3902-9853-46E6-8C01-44818691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92BE8B-A10B-45FA-BC8C-657E4768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94F13-9D2D-4C62-AFF7-EEE1F53B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Captar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ED0598-7917-49D0-A557-C179A0CED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Atención → oportunidad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6AA90-8A58-450C-B8B3-C3245FD5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TikTok · pauta · referidos · formularios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018A27-38D3-4918-90F2-D578B97B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66950"/>
            <a:ext cx="9525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2C9A6-DBC0-4745-9590-E75B3D6B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24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E15F05-ABEE-42D0-9E35-D97FD905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81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4F8D2-5713-4E0A-A86F-9B05DCB1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Convertir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B9B7D-A625-4F16-9EF5-6FF20D85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481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Oportunidad → decisión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AACC2E-48BC-4B99-9A74-D97BAB60A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76250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CRM · seguimiento · cotización · pago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623B4-9339-44DF-BE79-9A1C293C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9525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75A92D-ECEE-4097-963D-E9773D44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7DAA32-EBB9-474B-99A6-23DC7B6B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81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278BC0-68B1-46C6-BA31-AD3E5C93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43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Cumplir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45883A-08BB-468F-813D-816F6AB2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481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Promesa → entrega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BB913-8153-49A0-80FD-39444335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6250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Flujos · responsables · control · alertas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448078-2565-49E6-9295-44857BA4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9525" cy="3105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FF8CD9-DEF5-4622-B32D-3FFC37767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209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D21B20-7519-496E-8B2B-84D474AF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813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E83E74-B13F-4ED8-98BB-348CEF0B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4325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Continuar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22CA2A-4FD4-4076-96B7-28128A06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48100"/>
            <a:ext cx="228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Entrega → relación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D421ED-E26B-42DE-8CC9-8E17032A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6250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11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Postventa · garantías · NPS · reactivación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CC5C81-5D5A-4BD4-80BC-D72C215C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FC30A5-9442-426A-AD66-F3F956CC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IA / CAPA TRANSVERSAL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9BE28B-58E2-453C-BCBA-3973B3CA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9245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Extrae · clasifica · propone · redacta · alerta</a:t>
            </a:r>
          </a:p>
        </p:txBody>
      </p:sp>
    </p:spTree>
    <p:extLst>
      <p:ext uri="{BB962C8B-B14F-4D97-AF65-F5344CB8AC3E}">
        <p14:creationId xmlns:p14="http://schemas.microsoft.com/office/powerpoint/2010/main" val="13454820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E69D4D-7A1C-435C-9D6F-3DC85021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05 / ANTES DE VENDER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CB7CB-9466-4ECB-8FE4-7AC4B543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rPr>
              <a:t>omar.alvarez  ·  MARCO 4C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0C8B80-BC1C-4ED4-A2AE-039DDD120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0AF560-FDFE-4644-9AB3-D1838F2A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ED955C-ED13-4F69-869D-44046030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La demanda solo vale cuando entra y avanza.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88722-E177-4B33-B389-71A23886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9525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46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6A190-C1CA-46F7-A11D-27061B00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C1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87B4B-80D1-4072-8868-BECFC081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Captar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54CBF-4D95-44D9-BA88-6E794BD5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AEB7C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AEB7C0"/>
                </a:solidFill>
                <a:latin typeface="Aptos"/>
                <a:ea typeface="Aptos"/>
                <a:cs typeface="Aptos"/>
              </a:rPr>
              <a:t>¿De dónde llegan y dónde quedan registrados?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1276E7-4D6B-4FAB-B902-EDB60004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06F65F-C129-4D7B-8905-770D4B1E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916D96-CAA8-4E4A-B53B-51DD02EB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Contenido y pauta con una entrada clara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862B27-46D0-4FA8-B1C3-C8EEB9C6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754BC2-4946-4B79-B642-4BD200A3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D60864-709B-478D-9FE0-9E3CE7FF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29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Formularios, WhatsApp y referidos identificados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8C01E-DED7-438E-85AA-B6BA2DC7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C3B20D-C6BF-4E12-AC28-ACBDEFF5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94B469-76EB-4DFB-8C1E-3AB557DA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53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Fuente, intención y contexto desde el primer contacto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34333-185D-4E54-B168-3B508FB0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C2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B0102A-D876-40EC-88C8-8B275795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Convertir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FABCD5-67DD-47D8-8971-A9F79909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9565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AEB7C0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AEB7C0"/>
                </a:solidFill>
                <a:latin typeface="Aptos"/>
                <a:ea typeface="Aptos"/>
                <a:cs typeface="Aptos"/>
              </a:rPr>
              <a:t>¿Qué hace que una persona avance o se descarte?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5B430B-B735-4A3E-AC61-57D58087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37A674-98F2-45CE-B9D8-34C8709E6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A2A35-A227-4EC3-83A8-092A3311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Calificación y siguiente acción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E3D97-6188-4096-BB93-FB8CC58C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52DDB1-2D42-49F3-88B7-361FB04F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672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9FD3256-B71C-4909-BC25-3B9E2EA1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29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CRM, cadencias y cotizaciones trazables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C15275-06BA-47FE-BF4D-F929A1CD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578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FF49ED-DAA1-43DE-8498-A44F49E7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91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D4B73-4FA7-49D1-A19F-AE0FE082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53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5F2EA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F5F2EA"/>
                </a:solidFill>
                <a:latin typeface="Aptos"/>
                <a:ea typeface="Aptos"/>
                <a:cs typeface="Aptos"/>
              </a:rPr>
              <a:t>Agenda, pago y responsable comercial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75B158-6261-491A-9D06-6EABE671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EVIDENCIA: CRM de Grupo Enzo · leads y reservas de Arkhē · checkout y pagos verificables</a:t>
            </a:r>
          </a:p>
        </p:txBody>
      </p:sp>
    </p:spTree>
    <p:extLst>
      <p:ext uri="{BB962C8B-B14F-4D97-AF65-F5344CB8AC3E}">
        <p14:creationId xmlns:p14="http://schemas.microsoft.com/office/powerpoint/2010/main" val="18357343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EF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D326B7-4BDD-4291-9063-784CDD17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06 / DESPUÉS DE VENDER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7ED4D-C1D6-4EE1-8797-DD288148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omar.alvarez  ·  MARCO 4C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116B4-A81A-4011-86F2-10DD8E45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85E87-F457-441C-8D3C-B1D8CC65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C26FA-3AE6-41A5-BD03-C4614E71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La promesa necesita operación y memoria.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2BE81-3632-4BDC-BBF3-B33B0CE4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76450"/>
            <a:ext cx="9525" cy="3714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11728E-9E1B-43BF-B7A8-750708FC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DE1DF-2242-45DA-AE3D-C52755BE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Cumplir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8AC995-7EC3-4DE3-91C2-52DC2F76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6066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60666B"/>
                </a:solidFill>
                <a:latin typeface="Aptos"/>
                <a:ea typeface="Aptos"/>
                <a:cs typeface="Aptos"/>
              </a:rPr>
              <a:t>¿Cómo se entrega bien sin que tú vigiles cada paso?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B3BF0A-A751-4123-84EC-9B99B603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E6CB3E-5476-42AC-90B1-E84331D2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56EBE-5C88-4AF8-B751-2A05F29C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05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Estados, responsables y excepciones visibles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F51AF-0068-46E8-BF67-F545C086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8F31B7-604C-40D6-BA31-3F12CAC1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ED312-72F2-45EC-9D3F-66C1C6067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29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Documentos, checklists, evidencias y firmas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FF6C7B-98A8-450C-9963-5B3FFDD6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2D1A3D-08AB-4305-BCF7-2B98B0DE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7C4B1F-DB75-4C75-83C7-22683CE31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353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Alertas útiles cuando algo se estanca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ACB6E-3EB5-449A-8EF0-FB6413E1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336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105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A40BB0-E864-4E25-B1AC-A4B688F5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390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Continuar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C6E9B2-2403-4221-8270-BA6FDE9A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95650"/>
            <a:ext cx="457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 i="0">
                <a:solidFill>
                  <a:srgbClr val="60666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60666B"/>
                </a:solidFill>
                <a:latin typeface="Aptos"/>
                <a:ea typeface="Aptos"/>
                <a:cs typeface="Aptos"/>
              </a:rPr>
              <a:t>¿Qué ocurre después del pago o de la entrega?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FA3027-C2EA-4921-817B-32A67669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005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2F6E65-9791-4554-8A43-2E37741E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434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116AD-6E51-44C5-BC06-59D7AB37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305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Postventa y seguimiento con contexto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E7B233-F5AC-4C9F-B6B8-9E1DAF07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33925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0765A3-7BC4-4BCB-9B2D-371C9960A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672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E024AC-A6CE-485E-86E0-8867E2DF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8291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Garantías, mantenimiento y NPS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68237B-894F-481D-A27E-E3567EA5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57800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4D5D12-F133-4CAE-9156-807DA9E7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91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E0945F-A2DC-48C0-8060-BC26623F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353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82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111820"/>
                </a:solidFill>
                <a:latin typeface="Aptos"/>
                <a:ea typeface="Aptos"/>
                <a:cs typeface="Aptos"/>
              </a:rPr>
              <a:t>Reactivación, recompra y referidos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F55D7A-11D5-4743-BD86-DFB54FC1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EVIDENCIA: taller y seguimiento del vehículo · garantías · mantenimientos · NPS · alertas operativas</a:t>
            </a:r>
          </a:p>
        </p:txBody>
      </p:sp>
    </p:spTree>
    <p:extLst>
      <p:ext uri="{BB962C8B-B14F-4D97-AF65-F5344CB8AC3E}">
        <p14:creationId xmlns:p14="http://schemas.microsoft.com/office/powerpoint/2010/main" val="7928107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8E3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59F463-0D05-4651-A967-54F497539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07 / EVIDENCIA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00EA15-F041-4A46-86D3-E1C19EEE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omar.alvarez  ·  MARCO 4C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70EEA8-E3D0-49A0-BEA7-19D34C22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8B882-78D2-4D74-AF09-AC99A3C2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B98FD-279A-45F4-9718-20F3B223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34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El marco sale de sistemas que ya están operando.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F29B2E-7C0B-4643-839D-41420DA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172D0-4088-4319-A7A6-8103F0BE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0574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E8CDE9-8AC3-4AF4-84E0-364B1A0B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0574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75162-5C33-40BD-AC90-D4710356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574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B4CE90-F77E-495D-BD6A-9C3154A2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574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1E5FA8"/>
                </a:solidFill>
                <a:latin typeface="Courier New"/>
                <a:ea typeface="Courier New"/>
                <a:cs typeface="Courier New"/>
              </a:rPr>
              <a:t>C4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1ED59-9958-472D-BD64-B10C3618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57400"/>
            <a:ext cx="411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0666B"/>
                </a:solidFill>
                <a:latin typeface="Courier New"/>
                <a:ea typeface="Courier New"/>
                <a:cs typeface="Courier New"/>
              </a:defRPr>
            </a:pPr>
            <a:r>
              <a:rPr sz="900" b="1" i="0">
                <a:solidFill>
                  <a:srgbClr val="60666B"/>
                </a:solidFill>
                <a:latin typeface="Courier New"/>
                <a:ea typeface="Courier New"/>
                <a:cs typeface="Courier New"/>
              </a:rPr>
              <a:t>QUÉ DEMUESTRA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A08C9A-50B2-4AB2-8F56-22AB5CEF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4FD9B5-8A38-430F-8E4E-EDA68CB2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Grupo Enzo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E4DACA-7AD7-4D13-8C18-EF09B9CC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86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C7C0B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7C0B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46A48E-B175-435D-AA9B-DCDB15D9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86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A24B26-EC93-4ED1-A800-3665A70F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86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D4DC8-EE40-43F0-A137-6A38A5A6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6860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82A9E6-0F37-4317-BB72-C3472E1D6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38425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60666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0666B"/>
                </a:solidFill>
                <a:latin typeface="Aptos"/>
                <a:ea typeface="Aptos"/>
                <a:cs typeface="Aptos"/>
              </a:rPr>
              <a:t>CRM, cotización, taller, reservas, alertas y postventa.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2CF248-86A6-44F3-8FC1-25B72554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B7A74C-73BE-4E16-9877-E4D755EB1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Adjudika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C8D920-E6EE-4851-8EA9-D2A2F349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467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A3F676-1FAA-4D5D-9F29-FDE39C58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67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F3370C-8E12-41CE-8C57-BCE2B031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467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ABF0C-D25F-4556-B3C2-FA8CEF43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67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C7C0B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7C0B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D71DD0-9F84-4E55-8A1B-26E8E1608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19475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60666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0666B"/>
                </a:solidFill>
                <a:latin typeface="Aptos"/>
                <a:ea typeface="Aptos"/>
                <a:cs typeface="Aptos"/>
              </a:rPr>
              <a:t>IA con criterio humano, pagos, multiempresa y monitoreo.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143208-ACEC-48C8-8CF5-D832A7BA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01AE50-9AEF-4957-AE07-A61596DA9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Arkhē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8C5C9F-9A8F-4994-B196-65B3FEB5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4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13023D-07AE-49DD-BE16-A1FBA4456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24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1BB3DF-6586-4E50-91F9-53B2B58A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4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57B78B-A938-49AE-802A-044AD05F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24815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C7C0B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7C0B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AC00F-40BF-42FE-8F7C-A2F1B69A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00525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60666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0666B"/>
                </a:solidFill>
                <a:latin typeface="Aptos"/>
                <a:ea typeface="Aptos"/>
                <a:cs typeface="Aptos"/>
              </a:rPr>
              <a:t>Leads, recursos, reservas y Wompi conectados a operación.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D3D9BA-BAD5-4659-9351-0CEFD37C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7C0B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9653C4-EE80-4CAB-A128-DBB01365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O&amp;P / SECOP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79E07F8-444A-434D-A53E-1C8F4B09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5029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8C2A33-2B70-48BB-BBF2-19464653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29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C7C0B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7C0B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4A21A2-6287-47A9-A392-8FAE14AB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029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346AD1-CED5-468D-9B7A-32B758548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0292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C7C0B3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C7C0B3"/>
                </a:solidFill>
                <a:latin typeface="Aptos"/>
                <a:ea typeface="Aptos"/>
                <a:cs typeface="Aptos"/>
              </a:rPr>
              <a:t>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B8B4F5-C1D8-43E6-B9A3-204F0571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81575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 i="0">
                <a:solidFill>
                  <a:srgbClr val="60666B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60666B"/>
                </a:solidFill>
                <a:latin typeface="Aptos"/>
                <a:ea typeface="Aptos"/>
                <a:cs typeface="Aptos"/>
              </a:rPr>
              <a:t>Búsqueda, calificación y alertas sobre datos reales.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EF09B5-80D1-43C7-A855-FE0D27725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82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4DDE1D-E880-4C09-8605-79BD4779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111820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11820"/>
                </a:solidFill>
                <a:latin typeface="Georgia"/>
                <a:ea typeface="Georgia"/>
                <a:cs typeface="Georgia"/>
              </a:rPr>
              <a:t>La ventaja no es conocer más herramientas.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6920B7-4D69-40A9-8C26-CF4711E2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810250"/>
            <a:ext cx="567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879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E5FA8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E5FA8"/>
                </a:solidFill>
                <a:latin typeface="Aptos"/>
                <a:ea typeface="Aptos"/>
                <a:cs typeface="Aptos"/>
              </a:rPr>
              <a:t>Es haber conectado venta, operación y cliente en negocios propios.</a:t>
            </a:r>
          </a:p>
        </p:txBody>
      </p:sp>
    </p:spTree>
    <p:extLst>
      <p:ext uri="{BB962C8B-B14F-4D97-AF65-F5344CB8AC3E}">
        <p14:creationId xmlns:p14="http://schemas.microsoft.com/office/powerpoint/2010/main" val="11778411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AEA508-5129-4C0F-9336-C8575DBC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08 / LA SESIÓN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50834A-A51F-4A9B-ADC2-524BAF23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"/>
            <a:ext cx="3676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defRPr>
            </a:pPr>
            <a:r>
              <a:rPr sz="97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rPr>
              <a:t>omar.alvarez  ·  MARCO 4C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8D4166-DC45-4735-A5BF-129C9943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404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866C75-48F4-4B24-A950-C46142065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defRPr>
            </a:pPr>
            <a:r>
              <a:rPr sz="825" b="0" i="0">
                <a:solidFill>
                  <a:srgbClr val="AEB7C0"/>
                </a:solidFill>
                <a:latin typeface="Courier New"/>
                <a:ea typeface="Courier New"/>
                <a:cs typeface="Courier New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240950-9901-404C-B4F9-CC526424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9650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60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360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Dos horas para escoger qué construir primero.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4FEA1-5052-4660-B45D-06BD8BAF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FA9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53C100-D133-42D1-9D64-7DB2DE00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00—20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FB2D1-A8CF-45C7-AECD-ABDEA4CC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Definir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EB738-0F20-450C-BD1B-6FE120BF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95500"/>
            <a:ext cx="9525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4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A582E8-D5D9-4DCE-825E-1447E3A0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20—55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C2257-8D6F-45E7-9B9C-E4B1EBEC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971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Desarmar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FC23B-474D-4844-B4CD-D7C3A91E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9525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4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CE4E0-16A1-417F-A14E-DBD24F5F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55—105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10DCE-824D-4542-BA58-AAB7548A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71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332"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Diseñar / construir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D9BDF2-B1CE-42A1-8F01-42E6A642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95500"/>
            <a:ext cx="9525" cy="2305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4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F9BE95-E479-4F8E-B1AB-BADC260A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955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105—120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1E76B-D66A-43C5-A537-84F097F4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718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Cerrar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7CCB2-E17F-41EB-8875-12667864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654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7B8D9-B0F5-4C04-A7E1-40EE01A2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97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PRECIO 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898050-D143-4775-B018-572FF15F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435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USD 797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ACF07D-FCCF-464F-B3CA-93D2E06E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AEB7C0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AEB7C0"/>
                </a:solidFill>
                <a:latin typeface="Aptos"/>
                <a:ea typeface="Aptos"/>
                <a:cs typeface="Aptos"/>
              </a:rPr>
              <a:t>Wompi cobra COP con la tasa operativa del día.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B38427-08E7-4FFF-891B-AAFEC689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457700"/>
            <a:ext cx="342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TRM oficial + 1,65%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72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 i="0">
                <a:solidFill>
                  <a:srgbClr val="7FA9D8"/>
                </a:solidFill>
                <a:latin typeface="Courier New"/>
                <a:ea typeface="Courier New"/>
                <a:cs typeface="Courier New"/>
              </a:rPr>
              <a:t>redondeada al siguiente $10 COP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2E7CA3-349E-411C-99D4-03B44D065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43400"/>
            <a:ext cx="2724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7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 i="0">
                <a:solidFill>
                  <a:srgbClr val="F5F2EA"/>
                </a:solidFill>
                <a:latin typeface="Georgia"/>
                <a:ea typeface="Georgia"/>
                <a:cs typeface="Georgia"/>
              </a:defRPr>
            </a:pPr>
            <a:r>
              <a:rPr sz="1650" b="0" i="0">
                <a:solidFill>
                  <a:srgbClr val="F5F2EA"/>
                </a:solidFill>
                <a:latin typeface="Georgia"/>
                <a:ea typeface="Georgia"/>
                <a:cs typeface="Georgia"/>
              </a:rPr>
              <a:t>Trae un problema vivo. Escoge una C. Sal con una decisión y una primera pieza defendible.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8A953-E76A-4D5E-8461-C2BAD981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38800"/>
            <a:ext cx="2724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F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908D19-4A21-4ABF-938A-059C6560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72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5F2EA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 i="0">
                <a:solidFill>
                  <a:srgbClr val="F5F2EA"/>
                </a:solidFill>
                <a:latin typeface="Courier New"/>
                <a:ea typeface="Courier New"/>
                <a:cs typeface="Courier New"/>
              </a:rPr>
              <a:t>omaralvarezo.co</a:t>
            </a:r>
          </a:p>
        </p:txBody>
      </p:sp>
    </p:spTree>
    <p:extLst>
      <p:ext uri="{BB962C8B-B14F-4D97-AF65-F5344CB8AC3E}">
        <p14:creationId xmlns:p14="http://schemas.microsoft.com/office/powerpoint/2010/main" val="1638088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2026-08-20T05:10:26.1020000Z</dcterms:created>
  <dcterms:modified xsi:type="dcterms:W3CDTF">2026-08-20T05:10:26.1030000Z</dcterms:modified>
</coreProperties>
</file>